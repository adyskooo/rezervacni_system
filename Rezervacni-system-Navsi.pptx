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embeddedFontLst>
    <p:embeddedFont>
      <p:font typeface="Inter" panose="020B0604020202020204" charset="0"/>
      <p:regular r:id="rId11"/>
    </p:embeddedFont>
  </p:embeddedFontLst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415261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cs-CZ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cs-CZ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cs-CZ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cs-CZ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cs-CZ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cs-CZ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cs-CZ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cs-CZ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2.svg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9.png"/><Relationship Id="rId5" Type="http://schemas.openxmlformats.org/officeDocument/2006/relationships/image" Target="../media/image18.svg"/><Relationship Id="rId4" Type="http://schemas.openxmlformats.org/officeDocument/2006/relationships/image" Target="../media/image1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31081"/>
            <a:ext cx="5964659" cy="3953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4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Webový rezervační systém pro obec Návsí</a:t>
            </a:r>
            <a:endParaRPr lang="en-US" sz="2450" dirty="0"/>
          </a:p>
        </p:txBody>
      </p:sp>
      <p:sp>
        <p:nvSpPr>
          <p:cNvPr id="3" name="Text 1"/>
          <p:cNvSpPr/>
          <p:nvPr/>
        </p:nvSpPr>
        <p:spPr>
          <a:xfrm>
            <a:off x="496119" y="1031230"/>
            <a:ext cx="8151763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Digitalizace procesu pronájmu obecních prostor — od papírových sešitů k inteligentní webové aplikaci integrované do stávajícího webu obce.</a:t>
            </a:r>
            <a:endParaRPr lang="en-US" sz="9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504" y="1324719"/>
            <a:ext cx="6928991" cy="338770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56982" y="3127854"/>
            <a:ext cx="216328" cy="21632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271566" y="1592385"/>
            <a:ext cx="1495155" cy="2021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Cíl projektu</a:t>
            </a:r>
            <a:endParaRPr lang="en-US" sz="1250" dirty="0"/>
          </a:p>
        </p:txBody>
      </p:sp>
      <p:sp>
        <p:nvSpPr>
          <p:cNvPr id="7" name="Text 3"/>
          <p:cNvSpPr/>
          <p:nvPr/>
        </p:nvSpPr>
        <p:spPr>
          <a:xfrm>
            <a:off x="1271566" y="1849241"/>
            <a:ext cx="1495155" cy="4273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Digitalizovat proces pronájmu obecních prostor</a:t>
            </a:r>
            <a:endParaRPr lang="en-US" sz="9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127674" y="3127854"/>
            <a:ext cx="216328" cy="21632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371476" y="1592385"/>
            <a:ext cx="1495155" cy="2021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Uživatelé</a:t>
            </a:r>
            <a:endParaRPr lang="en-US" sz="1250" dirty="0"/>
          </a:p>
        </p:txBody>
      </p:sp>
      <p:sp>
        <p:nvSpPr>
          <p:cNvPr id="10" name="Text 5"/>
          <p:cNvSpPr/>
          <p:nvPr/>
        </p:nvSpPr>
        <p:spPr>
          <a:xfrm>
            <a:off x="6371476" y="1849241"/>
            <a:ext cx="1495155" cy="2848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Obyvatelé — rezervace a správa online</a:t>
            </a:r>
            <a:endParaRPr lang="en-US" sz="9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98366" y="3127854"/>
            <a:ext cx="216328" cy="21632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271566" y="3374552"/>
            <a:ext cx="1495155" cy="2021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Úředníci</a:t>
            </a:r>
            <a:endParaRPr lang="en-US" sz="1250" dirty="0"/>
          </a:p>
        </p:txBody>
      </p:sp>
      <p:sp>
        <p:nvSpPr>
          <p:cNvPr id="13" name="Text 7"/>
          <p:cNvSpPr/>
          <p:nvPr/>
        </p:nvSpPr>
        <p:spPr>
          <a:xfrm>
            <a:off x="1271566" y="3631407"/>
            <a:ext cx="1495155" cy="2848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Správa rezervací a schvalování</a:t>
            </a:r>
            <a:endParaRPr lang="en-US" sz="9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475901" y="3127854"/>
            <a:ext cx="216328" cy="216328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6364525" y="3374552"/>
            <a:ext cx="1495155" cy="2021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Výsledek</a:t>
            </a:r>
            <a:endParaRPr lang="en-US" sz="1250" dirty="0"/>
          </a:p>
        </p:txBody>
      </p:sp>
      <p:sp>
        <p:nvSpPr>
          <p:cNvPr id="16" name="Text 9"/>
          <p:cNvSpPr/>
          <p:nvPr/>
        </p:nvSpPr>
        <p:spPr>
          <a:xfrm>
            <a:off x="6364525" y="3631407"/>
            <a:ext cx="1495155" cy="2848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Bezproblémová integrace do webu obce</a:t>
            </a:r>
            <a:endParaRPr lang="en-US" sz="95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175F95A-2A37-6179-7FC6-E5E5DEE9D265}"/>
              </a:ext>
            </a:extLst>
          </p:cNvPr>
          <p:cNvSpPr/>
          <p:nvPr/>
        </p:nvSpPr>
        <p:spPr>
          <a:xfrm>
            <a:off x="7898134" y="4767169"/>
            <a:ext cx="1160585" cy="33938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422053"/>
            <a:ext cx="4636368" cy="465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50"/>
              </a:lnSpc>
              <a:buNone/>
            </a:pPr>
            <a:r>
              <a:rPr lang="en-US" sz="29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Proč původní stav nestačil?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394022" y="2099816"/>
            <a:ext cx="4107135" cy="1621557"/>
          </a:xfrm>
          <a:prstGeom prst="roundRect">
            <a:avLst>
              <a:gd name="adj" fmla="val 6295"/>
            </a:avLst>
          </a:prstGeom>
          <a:solidFill>
            <a:srgbClr val="007EBD">
              <a:alpha val="9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" name="Text 2"/>
          <p:cNvSpPr/>
          <p:nvPr/>
        </p:nvSpPr>
        <p:spPr>
          <a:xfrm>
            <a:off x="535781" y="2241575"/>
            <a:ext cx="18606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Současné problémy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535781" y="2615878"/>
            <a:ext cx="3823618" cy="1055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Rezervace výhradně přes telefon nebo e-mail</a:t>
            </a:r>
            <a:endParaRPr lang="en-US" sz="11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Papírové sešity bez přehledu o obsazenosti</a:t>
            </a:r>
            <a:endParaRPr lang="en-US" sz="11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Časté chyby a dvojité rezervace</a:t>
            </a:r>
            <a:endParaRPr lang="en-US" sz="11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Administrativní zátěž zaměstnanců úřadu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49701" y="2241575"/>
            <a:ext cx="18606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Důsledky pro obec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4749701" y="2615878"/>
            <a:ext cx="3902943" cy="1055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Nízká transparentnost pro občany</a:t>
            </a:r>
            <a:endParaRPr lang="en-US" sz="11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Žádná digitální evidence žádostí</a:t>
            </a:r>
            <a:endParaRPr lang="en-US" sz="11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Chybějící statistiky vytíženosti</a:t>
            </a:r>
            <a:endParaRPr lang="en-US" sz="11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Neprofesionální dojem z obecní správy</a:t>
            </a:r>
            <a:endParaRPr lang="en-US" sz="11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6C96DF6-9269-31FC-A319-C91980224B4C}"/>
              </a:ext>
            </a:extLst>
          </p:cNvPr>
          <p:cNvSpPr/>
          <p:nvPr/>
        </p:nvSpPr>
        <p:spPr>
          <a:xfrm>
            <a:off x="7898134" y="4767169"/>
            <a:ext cx="1160585" cy="33938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08409"/>
            <a:ext cx="8057555" cy="465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50"/>
              </a:lnSpc>
              <a:buNone/>
            </a:pPr>
            <a:r>
              <a:rPr lang="en-US" sz="29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Uživatelské rozhraní — co mohou občané dělat?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496119" y="1357089"/>
            <a:ext cx="4004965" cy="1518121"/>
          </a:xfrm>
          <a:prstGeom prst="roundRect">
            <a:avLst>
              <a:gd name="adj" fmla="val 3922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4" name="Shape 2"/>
          <p:cNvSpPr/>
          <p:nvPr/>
        </p:nvSpPr>
        <p:spPr>
          <a:xfrm>
            <a:off x="515169" y="1376139"/>
            <a:ext cx="3966865" cy="425276"/>
          </a:xfrm>
          <a:prstGeom prst="roundRect">
            <a:avLst>
              <a:gd name="adj" fmla="val 8626"/>
            </a:avLst>
          </a:prstGeom>
          <a:solidFill>
            <a:srgbClr val="CCEEFF"/>
          </a:solidFill>
          <a:ln/>
        </p:spPr>
        <p:txBody>
          <a:bodyPr/>
          <a:lstStyle/>
          <a:p>
            <a:endParaRPr lang="cs-CZ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92263" y="1480021"/>
            <a:ext cx="212601" cy="21260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56927" y="1943174"/>
            <a:ext cx="18606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Interaktivní kalendář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656927" y="2260774"/>
            <a:ext cx="368334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Přehled obsazenosti v reálném čase. Vždy aktuální, přehledný a dostupný odkudkoli.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642842" y="1357089"/>
            <a:ext cx="4005039" cy="1518121"/>
          </a:xfrm>
          <a:prstGeom prst="roundRect">
            <a:avLst>
              <a:gd name="adj" fmla="val 3922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9" name="Shape 6"/>
          <p:cNvSpPr/>
          <p:nvPr/>
        </p:nvSpPr>
        <p:spPr>
          <a:xfrm>
            <a:off x="4661892" y="1376139"/>
            <a:ext cx="3966939" cy="425276"/>
          </a:xfrm>
          <a:prstGeom prst="roundRect">
            <a:avLst>
              <a:gd name="adj" fmla="val 8626"/>
            </a:avLst>
          </a:prstGeom>
          <a:solidFill>
            <a:srgbClr val="CCEEFF"/>
          </a:solidFill>
          <a:ln/>
        </p:spPr>
        <p:txBody>
          <a:bodyPr/>
          <a:lstStyle/>
          <a:p>
            <a:endParaRPr lang="cs-CZ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39061" y="1480021"/>
            <a:ext cx="212601" cy="21260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803651" y="1943174"/>
            <a:ext cx="222579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Rezervace ve dvou krocích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4803651" y="2260774"/>
            <a:ext cx="368342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Intuitivní formulář bez zbytečné složitosti. Rezervovat lze bez registrace i s účtem.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96119" y="3016969"/>
            <a:ext cx="4004965" cy="1518121"/>
          </a:xfrm>
          <a:prstGeom prst="roundRect">
            <a:avLst>
              <a:gd name="adj" fmla="val 3922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4" name="Shape 10"/>
          <p:cNvSpPr/>
          <p:nvPr/>
        </p:nvSpPr>
        <p:spPr>
          <a:xfrm>
            <a:off x="515169" y="3036019"/>
            <a:ext cx="3966865" cy="425276"/>
          </a:xfrm>
          <a:prstGeom prst="roundRect">
            <a:avLst>
              <a:gd name="adj" fmla="val 8626"/>
            </a:avLst>
          </a:prstGeom>
          <a:solidFill>
            <a:srgbClr val="CCEEFF"/>
          </a:solidFill>
          <a:ln/>
        </p:spPr>
        <p:txBody>
          <a:bodyPr/>
          <a:lstStyle/>
          <a:p>
            <a:endParaRPr lang="cs-CZ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392263" y="3139901"/>
            <a:ext cx="212601" cy="21260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56927" y="3603054"/>
            <a:ext cx="18606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Osobní profil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656927" y="3920654"/>
            <a:ext cx="368334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Historie rezervací, aktuální stav žádostí a automatické předvyplnění údajů pro opakované rezervace.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4642842" y="3016969"/>
            <a:ext cx="4005039" cy="1518121"/>
          </a:xfrm>
          <a:prstGeom prst="roundRect">
            <a:avLst>
              <a:gd name="adj" fmla="val 3922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9" name="Shape 14"/>
          <p:cNvSpPr/>
          <p:nvPr/>
        </p:nvSpPr>
        <p:spPr>
          <a:xfrm>
            <a:off x="4661892" y="3036019"/>
            <a:ext cx="3966939" cy="425276"/>
          </a:xfrm>
          <a:prstGeom prst="roundRect">
            <a:avLst>
              <a:gd name="adj" fmla="val 8626"/>
            </a:avLst>
          </a:prstGeom>
          <a:solidFill>
            <a:srgbClr val="CCEEFF"/>
          </a:solidFill>
          <a:ln/>
        </p:spPr>
        <p:txBody>
          <a:bodyPr/>
          <a:lstStyle/>
          <a:p>
            <a:endParaRPr lang="cs-CZ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39061" y="3139901"/>
            <a:ext cx="212601" cy="212601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803651" y="3603054"/>
            <a:ext cx="18606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Obnova hesla</a:t>
            </a:r>
            <a:endParaRPr lang="en-US" sz="1450" dirty="0"/>
          </a:p>
        </p:txBody>
      </p:sp>
      <p:sp>
        <p:nvSpPr>
          <p:cNvPr id="22" name="Text 16"/>
          <p:cNvSpPr/>
          <p:nvPr/>
        </p:nvSpPr>
        <p:spPr>
          <a:xfrm>
            <a:off x="4803651" y="3920654"/>
            <a:ext cx="368342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Bezpečný 6místný kód zaslaný na e-mail s platností 15 minut — jednoduché a bezpečné.</a:t>
            </a:r>
            <a:endParaRPr lang="en-US" sz="110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3D66FD8-08EE-E14B-8ABE-4FFEFEBA8B15}"/>
              </a:ext>
            </a:extLst>
          </p:cNvPr>
          <p:cNvSpPr/>
          <p:nvPr/>
        </p:nvSpPr>
        <p:spPr>
          <a:xfrm>
            <a:off x="7898134" y="4767169"/>
            <a:ext cx="1160585" cy="33938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8379" y="388441"/>
            <a:ext cx="6506766" cy="4121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5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Přínosy pro úřad — administrátorský panel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488379" y="1897782"/>
            <a:ext cx="1648420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Správa rezervací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88379" y="2215009"/>
            <a:ext cx="3930402" cy="646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Zabezpečený centrální panel pro zaměstnance obce</a:t>
            </a:r>
            <a:endParaRPr lang="en-US" sz="950" dirty="0"/>
          </a:p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Schválení nebo zamítnutí žádosti na </a:t>
            </a:r>
            <a:r>
              <a:rPr lang="en-US" sz="9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jedno kliknutí</a:t>
            </a:r>
            <a:endParaRPr lang="en-US" sz="950" dirty="0"/>
          </a:p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Automatické e-mailové notifikace občanům o výsledku žádosti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88379" y="2972470"/>
            <a:ext cx="1648420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Analytika a statistiky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88379" y="3289697"/>
            <a:ext cx="3930402" cy="6072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Grafy vytíženosti prostor v denním, týdenním, měsíčním i ročním pohledu</a:t>
            </a:r>
            <a:endParaRPr lang="en-US" sz="950" dirty="0"/>
          </a:p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Podklady pro efektivní plánování a rozhodování</a:t>
            </a:r>
            <a:endParaRPr lang="en-US" sz="9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9981" y="1092547"/>
            <a:ext cx="3537347" cy="3537347"/>
          </a:xfrm>
          <a:prstGeom prst="rect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9981" y="1092547"/>
            <a:ext cx="3537347" cy="3537347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9713514-519B-B179-7336-9BE1D9E1B6B6}"/>
              </a:ext>
            </a:extLst>
          </p:cNvPr>
          <p:cNvSpPr/>
          <p:nvPr/>
        </p:nvSpPr>
        <p:spPr>
          <a:xfrm>
            <a:off x="7898134" y="4767169"/>
            <a:ext cx="1160585" cy="33938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50391"/>
            <a:ext cx="3721373" cy="465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50"/>
              </a:lnSpc>
              <a:buNone/>
            </a:pPr>
            <a:r>
              <a:rPr lang="en-US" sz="29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Technologický stack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496119" y="1499071"/>
            <a:ext cx="4004965" cy="1376139"/>
          </a:xfrm>
          <a:prstGeom prst="roundRect">
            <a:avLst>
              <a:gd name="adj" fmla="val 4327"/>
            </a:avLst>
          </a:prstGeom>
          <a:solidFill>
            <a:srgbClr val="CCEEFF"/>
          </a:solidFill>
          <a:ln w="4763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4" name="Text 2"/>
          <p:cNvSpPr/>
          <p:nvPr/>
        </p:nvSpPr>
        <p:spPr>
          <a:xfrm>
            <a:off x="642640" y="1645593"/>
            <a:ext cx="18606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Backend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42640" y="1963192"/>
            <a:ext cx="371192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</a:t>
            </a: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+ framework </a:t>
            </a:r>
            <a:r>
              <a:rPr lang="en-US" sz="11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Django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2640" y="2275061"/>
            <a:ext cx="371192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Robustní, bezpečný a dobře udržovatelný základ aplikace.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42842" y="1499071"/>
            <a:ext cx="4005039" cy="1376139"/>
          </a:xfrm>
          <a:prstGeom prst="roundRect">
            <a:avLst>
              <a:gd name="adj" fmla="val 4327"/>
            </a:avLst>
          </a:prstGeom>
          <a:solidFill>
            <a:srgbClr val="CCEEFF"/>
          </a:solidFill>
          <a:ln w="4763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8" name="Text 6"/>
          <p:cNvSpPr/>
          <p:nvPr/>
        </p:nvSpPr>
        <p:spPr>
          <a:xfrm>
            <a:off x="4789363" y="1645593"/>
            <a:ext cx="18606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Frontend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789363" y="1963192"/>
            <a:ext cx="371199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HTML5, CSS3, JavaScript</a:t>
            </a: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+ Bootstrap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89363" y="2275061"/>
            <a:ext cx="371199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Moderní a responzivní rozhraní přizpůsobené webu obce.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96119" y="3016969"/>
            <a:ext cx="4004965" cy="1376139"/>
          </a:xfrm>
          <a:prstGeom prst="roundRect">
            <a:avLst>
              <a:gd name="adj" fmla="val 4327"/>
            </a:avLst>
          </a:prstGeom>
          <a:solidFill>
            <a:srgbClr val="CCEEFF"/>
          </a:solidFill>
          <a:ln w="4763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2" name="Text 10"/>
          <p:cNvSpPr/>
          <p:nvPr/>
        </p:nvSpPr>
        <p:spPr>
          <a:xfrm>
            <a:off x="642640" y="3163491"/>
            <a:ext cx="18606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Responzivita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42640" y="3481090"/>
            <a:ext cx="371192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Plně funkční na </a:t>
            </a:r>
            <a:r>
              <a:rPr lang="en-US" sz="11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mobilech i PC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2640" y="3792959"/>
            <a:ext cx="371192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Přístupnost pro všechny věkové skupiny občanů.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42842" y="3016969"/>
            <a:ext cx="4005039" cy="1376139"/>
          </a:xfrm>
          <a:prstGeom prst="roundRect">
            <a:avLst>
              <a:gd name="adj" fmla="val 4327"/>
            </a:avLst>
          </a:prstGeom>
          <a:solidFill>
            <a:srgbClr val="CCEEFF"/>
          </a:solidFill>
          <a:ln w="4763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6" name="Text 14"/>
          <p:cNvSpPr/>
          <p:nvPr/>
        </p:nvSpPr>
        <p:spPr>
          <a:xfrm>
            <a:off x="4789363" y="3163491"/>
            <a:ext cx="18606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Bezpečnost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4789363" y="3481090"/>
            <a:ext cx="371199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CSRF ochrana</a:t>
            </a: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hashování hesel, zabezpečené formuláře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89363" y="4019773"/>
            <a:ext cx="371199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Moderní bezpečnostní standardy.</a:t>
            </a:r>
            <a:endParaRPr lang="en-US" sz="110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2576969-7A49-627F-25F0-96559DF166D9}"/>
              </a:ext>
            </a:extLst>
          </p:cNvPr>
          <p:cNvSpPr/>
          <p:nvPr/>
        </p:nvSpPr>
        <p:spPr>
          <a:xfrm>
            <a:off x="7898134" y="4767169"/>
            <a:ext cx="1160585" cy="33938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8379" y="388441"/>
            <a:ext cx="6089079" cy="4121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5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Databázový model — 5 klíčových tabulek</a:t>
            </a:r>
            <a:endParaRPr lang="en-US" sz="25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379" y="1092547"/>
            <a:ext cx="3537347" cy="3537347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379" y="1092547"/>
            <a:ext cx="3537347" cy="353734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729981" y="1914748"/>
            <a:ext cx="1947639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Klíčový designový princip</a:t>
            </a:r>
            <a:endParaRPr lang="en-US" sz="1250" dirty="0"/>
          </a:p>
        </p:txBody>
      </p:sp>
      <p:sp>
        <p:nvSpPr>
          <p:cNvPr id="6" name="Text 2"/>
          <p:cNvSpPr/>
          <p:nvPr/>
        </p:nvSpPr>
        <p:spPr>
          <a:xfrm>
            <a:off x="4729981" y="2231975"/>
            <a:ext cx="3930402" cy="568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Tabulky </a:t>
            </a:r>
            <a:r>
              <a:rPr lang="en-US" sz="9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</a:t>
            </a: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 </a:t>
            </a:r>
            <a:r>
              <a:rPr lang="en-US" sz="9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Profil</a:t>
            </a: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jsou záměrně odděleny dle </a:t>
            </a:r>
            <a:r>
              <a:rPr lang="en-US" sz="9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Profile Pattern</a:t>
            </a: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nativní Django tabulka pro autentizaci zůstává nedotčena, doplňující údaje (tel. číslo) jsou ve vlastní tabulce.</a:t>
            </a:r>
            <a:endParaRPr lang="en-US" sz="950" dirty="0"/>
          </a:p>
        </p:txBody>
      </p:sp>
      <p:sp>
        <p:nvSpPr>
          <p:cNvPr id="7" name="Shape 3"/>
          <p:cNvSpPr/>
          <p:nvPr/>
        </p:nvSpPr>
        <p:spPr>
          <a:xfrm>
            <a:off x="4729981" y="2956843"/>
            <a:ext cx="3930402" cy="9376"/>
          </a:xfrm>
          <a:prstGeom prst="rect">
            <a:avLst/>
          </a:prstGeom>
          <a:solidFill>
            <a:srgbClr val="272525">
              <a:alpha val="50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8" name="Text 4"/>
          <p:cNvSpPr/>
          <p:nvPr/>
        </p:nvSpPr>
        <p:spPr>
          <a:xfrm>
            <a:off x="4729981" y="3122712"/>
            <a:ext cx="1778347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Tabulka ResetHeslaKod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4729981" y="3439939"/>
            <a:ext cx="3930402" cy="378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Jednorázové kódy s </a:t>
            </a:r>
            <a:r>
              <a:rPr lang="en-US" sz="9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boolean</a:t>
            </a: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příznakem použití a </a:t>
            </a:r>
            <a:r>
              <a:rPr lang="en-US" sz="9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datetime</a:t>
            </a: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expirace zajišťují maximální bezpečnost obnovy účtu.</a:t>
            </a:r>
            <a:endParaRPr lang="en-US" sz="95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6AD3002-734B-EEF2-812E-43992879DAED}"/>
              </a:ext>
            </a:extLst>
          </p:cNvPr>
          <p:cNvSpPr/>
          <p:nvPr/>
        </p:nvSpPr>
        <p:spPr>
          <a:xfrm>
            <a:off x="7898134" y="4767169"/>
            <a:ext cx="1160585" cy="33938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307902"/>
            <a:ext cx="4749105" cy="465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50"/>
              </a:lnSpc>
              <a:buNone/>
            </a:pPr>
            <a:r>
              <a:rPr lang="en-US" sz="29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Vícevrstvá ochrana systému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496119" y="2056581"/>
            <a:ext cx="2622724" cy="1779017"/>
          </a:xfrm>
          <a:prstGeom prst="roundRect">
            <a:avLst>
              <a:gd name="adj" fmla="val 5140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4" name="Shape 2"/>
          <p:cNvSpPr/>
          <p:nvPr/>
        </p:nvSpPr>
        <p:spPr>
          <a:xfrm>
            <a:off x="477069" y="2056581"/>
            <a:ext cx="76200" cy="1779017"/>
          </a:xfrm>
          <a:prstGeom prst="roundRect">
            <a:avLst>
              <a:gd name="adj" fmla="val 78140"/>
            </a:avLst>
          </a:prstGeom>
          <a:solidFill>
            <a:srgbClr val="007EB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" name="Text 3"/>
          <p:cNvSpPr/>
          <p:nvPr/>
        </p:nvSpPr>
        <p:spPr>
          <a:xfrm>
            <a:off x="714077" y="2217390"/>
            <a:ext cx="18606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Hashování hesel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14077" y="2534989"/>
            <a:ext cx="2243956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Hesla jsou ukládána výhradně jako bezpečné hashe — nikdy v čitelné podobě. Útočník nezíská skutečné heslo ani při kompromitaci databáze.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60601" y="2056581"/>
            <a:ext cx="2622724" cy="1779017"/>
          </a:xfrm>
          <a:prstGeom prst="roundRect">
            <a:avLst>
              <a:gd name="adj" fmla="val 5140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8" name="Shape 6"/>
          <p:cNvSpPr/>
          <p:nvPr/>
        </p:nvSpPr>
        <p:spPr>
          <a:xfrm>
            <a:off x="3241551" y="2056581"/>
            <a:ext cx="76200" cy="1779017"/>
          </a:xfrm>
          <a:prstGeom prst="roundRect">
            <a:avLst>
              <a:gd name="adj" fmla="val 78140"/>
            </a:avLst>
          </a:prstGeom>
          <a:solidFill>
            <a:srgbClr val="007EB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9" name="Text 7"/>
          <p:cNvSpPr/>
          <p:nvPr/>
        </p:nvSpPr>
        <p:spPr>
          <a:xfrm>
            <a:off x="3478560" y="2217390"/>
            <a:ext cx="2243956" cy="46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Ochrana proti CSRF útokům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3478560" y="2767533"/>
            <a:ext cx="224395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Každý formulář je chráněn Django CSRF tokeny, které znemožňují podvržené požadavky z cizích stránek.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25083" y="2056581"/>
            <a:ext cx="2622724" cy="1779017"/>
          </a:xfrm>
          <a:prstGeom prst="roundRect">
            <a:avLst>
              <a:gd name="adj" fmla="val 5140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2" name="Shape 10"/>
          <p:cNvSpPr/>
          <p:nvPr/>
        </p:nvSpPr>
        <p:spPr>
          <a:xfrm>
            <a:off x="6006033" y="2056581"/>
            <a:ext cx="76200" cy="1779017"/>
          </a:xfrm>
          <a:prstGeom prst="roundRect">
            <a:avLst>
              <a:gd name="adj" fmla="val 78140"/>
            </a:avLst>
          </a:prstGeom>
          <a:solidFill>
            <a:srgbClr val="007EB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3" name="Text 11"/>
          <p:cNvSpPr/>
          <p:nvPr/>
        </p:nvSpPr>
        <p:spPr>
          <a:xfrm>
            <a:off x="6243042" y="2217390"/>
            <a:ext cx="2243956" cy="46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Časově omezené kódy obnovy hesla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243042" y="2767533"/>
            <a:ext cx="224395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6místný kód zaslaný na e-mail je platný pouze </a:t>
            </a:r>
            <a:r>
              <a:rPr lang="en-US" sz="11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 minut</a:t>
            </a: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 po použití je okamžitě zneplatněn — minimalizuje riziko zneužití.</a:t>
            </a:r>
            <a:endParaRPr lang="en-US" sz="11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DEC640D-651D-EE47-E22E-D1B7EAB7B9F0}"/>
              </a:ext>
            </a:extLst>
          </p:cNvPr>
          <p:cNvSpPr/>
          <p:nvPr/>
        </p:nvSpPr>
        <p:spPr>
          <a:xfrm>
            <a:off x="7898134" y="4767169"/>
            <a:ext cx="1160585" cy="33938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74378"/>
            <a:ext cx="5038576" cy="465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50"/>
              </a:lnSpc>
              <a:buNone/>
            </a:pPr>
            <a:r>
              <a:rPr lang="en-US" sz="29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 systém přináší obci Návsí?</a:t>
            </a:r>
            <a:endParaRPr lang="en-US" sz="2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723058"/>
            <a:ext cx="354360" cy="35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27658" y="1723058"/>
            <a:ext cx="18606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Efektivita správy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1027658" y="2040657"/>
            <a:ext cx="2067595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Konec ruční evidence — veškerá agenda na jednom místě, dostupná kdykoliv.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72433" y="1723058"/>
            <a:ext cx="354360" cy="3543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803972" y="1723058"/>
            <a:ext cx="1876574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Lepší služby občanům</a:t>
            </a:r>
            <a:endParaRPr lang="en-US" sz="1450" dirty="0"/>
          </a:p>
        </p:txBody>
      </p:sp>
      <p:sp>
        <p:nvSpPr>
          <p:cNvPr id="8" name="Text 4"/>
          <p:cNvSpPr/>
          <p:nvPr/>
        </p:nvSpPr>
        <p:spPr>
          <a:xfrm>
            <a:off x="3803972" y="2040657"/>
            <a:ext cx="2067595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Transparentní, rychlý a moderní způsob rezervace bez nutnosti volat na úřad.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48747" y="1723058"/>
            <a:ext cx="354360" cy="35436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580287" y="1723058"/>
            <a:ext cx="2067595" cy="46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Datová podpora rozhodování</a:t>
            </a:r>
            <a:endParaRPr lang="en-US" sz="1450" dirty="0"/>
          </a:p>
        </p:txBody>
      </p:sp>
      <p:sp>
        <p:nvSpPr>
          <p:cNvPr id="11" name="Text 6"/>
          <p:cNvSpPr/>
          <p:nvPr/>
        </p:nvSpPr>
        <p:spPr>
          <a:xfrm>
            <a:off x="6580287" y="2273201"/>
            <a:ext cx="2067595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Statistiky vytíženosti prostor umožňují lépe plánovat a optimalizovat využití majetku obce.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496119" y="3339926"/>
            <a:ext cx="8151763" cy="829196"/>
          </a:xfrm>
          <a:prstGeom prst="roundRect">
            <a:avLst>
              <a:gd name="adj" fmla="val 7181"/>
            </a:avLst>
          </a:prstGeom>
          <a:solidFill>
            <a:srgbClr val="B6FCB8"/>
          </a:solidFill>
          <a:ln/>
        </p:spPr>
        <p:txBody>
          <a:bodyPr/>
          <a:lstStyle/>
          <a:p>
            <a:endParaRPr lang="cs-CZ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7877" y="3554983"/>
            <a:ext cx="177180" cy="141759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956816" y="3517106"/>
            <a:ext cx="754930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Projekt je navržen s důrazem na dlouhodobou udržovatelnost, bezpečnost a snadné rozšíření o další prostory nebo funkce v budoucnosti.</a:t>
            </a:r>
            <a:endParaRPr lang="en-US" sz="11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AF54D38-3505-E137-9366-E88AF037148C}"/>
              </a:ext>
            </a:extLst>
          </p:cNvPr>
          <p:cNvSpPr/>
          <p:nvPr/>
        </p:nvSpPr>
        <p:spPr>
          <a:xfrm>
            <a:off x="7898134" y="4767169"/>
            <a:ext cx="1160585" cy="33938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491</Words>
  <Application>Microsoft Office PowerPoint</Application>
  <PresentationFormat>On-screen Show (16:9)</PresentationFormat>
  <Paragraphs>79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Petrona Bold</vt:lpstr>
      <vt:lpstr>Arial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Adam Koukol</cp:lastModifiedBy>
  <cp:revision>2</cp:revision>
  <dcterms:created xsi:type="dcterms:W3CDTF">2026-05-05T18:25:44Z</dcterms:created>
  <dcterms:modified xsi:type="dcterms:W3CDTF">2026-05-06T11:00:10Z</dcterms:modified>
</cp:coreProperties>
</file>